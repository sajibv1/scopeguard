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d59c149a22435a" /><Relationship Type="http://schemas.openxmlformats.org/officeDocument/2006/relationships/extended-properties" Target="/docProps/app.xml" Id="Rf1a639f3c96d4fe0" /><Relationship Type="http://schemas.openxmlformats.org/officeDocument/2006/relationships/officeDocument" Target="/ppt/presentation.xml" Id="Re2926246e76e4a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2031d3f2c94d26"/>
  </p:sldMasterIdLst>
  <p:notesMasterIdLst>
    <p:notesMasterId xmlns:r="http://schemas.openxmlformats.org/officeDocument/2006/relationships" r:id="Ra82f121df63445e2"/>
  </p:notesMasterIdLst>
  <p:sldIdLst>
    <p:sldId xmlns:r="http://schemas.openxmlformats.org/officeDocument/2006/relationships" id="256" r:id="R934503c171e2428f"/>
    <p:sldId xmlns:r="http://schemas.openxmlformats.org/officeDocument/2006/relationships" id="257" r:id="R6103c5e384d74209"/>
    <p:sldId xmlns:r="http://schemas.openxmlformats.org/officeDocument/2006/relationships" id="258" r:id="R375bab55649e483b"/>
    <p:sldId xmlns:r="http://schemas.openxmlformats.org/officeDocument/2006/relationships" id="259" r:id="R001944365d284be7"/>
    <p:sldId xmlns:r="http://schemas.openxmlformats.org/officeDocument/2006/relationships" id="260" r:id="Redcb943d05774dc7"/>
    <p:sldId xmlns:r="http://schemas.openxmlformats.org/officeDocument/2006/relationships" id="261" r:id="R3582a4895f1a4739"/>
    <p:sldId xmlns:r="http://schemas.openxmlformats.org/officeDocument/2006/relationships" id="262" r:id="R5ed5f92d1fdb43de"/>
    <p:sldId xmlns:r="http://schemas.openxmlformats.org/officeDocument/2006/relationships" id="263" r:id="R707a1c014b05401a"/>
    <p:sldId xmlns:r="http://schemas.openxmlformats.org/officeDocument/2006/relationships" id="264" r:id="R3b85e58be6464e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33f80f6eb64710" /><Relationship Type="http://schemas.openxmlformats.org/officeDocument/2006/relationships/slideMaster" Target="/ppt/slideMasters/slideMaster1.xml" Id="R402031d3f2c94d26" /><Relationship Type="http://schemas.openxmlformats.org/officeDocument/2006/relationships/notesMaster" Target="/ppt/notesMasters/notesMaster1.xml" Id="Ra82f121df63445e2" /><Relationship Type="http://schemas.openxmlformats.org/officeDocument/2006/relationships/presProps" Target="/ppt/presProps.xml" Id="R3c0f670cb2954d80" /><Relationship Type="http://schemas.openxmlformats.org/officeDocument/2006/relationships/tableStyles" Target="/ppt/tableStyles.xml" Id="Rff771c80034744ee" /><Relationship Type="http://schemas.openxmlformats.org/officeDocument/2006/relationships/slide" Target="/ppt/slides/slide1.xml" Id="R934503c171e2428f" /><Relationship Type="http://schemas.openxmlformats.org/officeDocument/2006/relationships/slide" Target="/ppt/slides/slide2.xml" Id="R6103c5e384d74209" /><Relationship Type="http://schemas.openxmlformats.org/officeDocument/2006/relationships/slide" Target="/ppt/slides/slide3.xml" Id="R375bab55649e483b" /><Relationship Type="http://schemas.openxmlformats.org/officeDocument/2006/relationships/slide" Target="/ppt/slides/slide4.xml" Id="R001944365d284be7" /><Relationship Type="http://schemas.openxmlformats.org/officeDocument/2006/relationships/slide" Target="/ppt/slides/slide5.xml" Id="Redcb943d05774dc7" /><Relationship Type="http://schemas.openxmlformats.org/officeDocument/2006/relationships/slide" Target="/ppt/slides/slide6.xml" Id="R3582a4895f1a4739" /><Relationship Type="http://schemas.openxmlformats.org/officeDocument/2006/relationships/slide" Target="/ppt/slides/slide7.xml" Id="R5ed5f92d1fdb43de" /><Relationship Type="http://schemas.openxmlformats.org/officeDocument/2006/relationships/slide" Target="/ppt/slides/slide8.xml" Id="R707a1c014b05401a" /><Relationship Type="http://schemas.openxmlformats.org/officeDocument/2006/relationships/slide" Target="/ppt/slides/slide9.xml" Id="R3b85e58be6464e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eea6e8cdf6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52fc638514e9d" /><Relationship Type="http://schemas.openxmlformats.org/officeDocument/2006/relationships/notesMaster" Target="/ppt/notesMasters/notesMaster1.xml" Id="R26c870ef3cfb4f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c28d0ce77040bf" /><Relationship Type="http://schemas.openxmlformats.org/officeDocument/2006/relationships/notesMaster" Target="/ppt/notesMasters/notesMaster1.xml" Id="R03f03b48d58e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a55bbd5df4aba" /><Relationship Type="http://schemas.openxmlformats.org/officeDocument/2006/relationships/notesMaster" Target="/ppt/notesMasters/notesMaster1.xml" Id="R8bfc5282151d46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8c402b68354884" /><Relationship Type="http://schemas.openxmlformats.org/officeDocument/2006/relationships/notesMaster" Target="/ppt/notesMasters/notesMaster1.xml" Id="Rde8d635528c944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c5e0637ff64fe0" /><Relationship Type="http://schemas.openxmlformats.org/officeDocument/2006/relationships/notesMaster" Target="/ppt/notesMasters/notesMaster1.xml" Id="R795edcd235b84f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0346df455e47ff" /><Relationship Type="http://schemas.openxmlformats.org/officeDocument/2006/relationships/notesMaster" Target="/ppt/notesMasters/notesMaster1.xml" Id="Re964102fc8f846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302a6d27b047cd" /><Relationship Type="http://schemas.openxmlformats.org/officeDocument/2006/relationships/notesMaster" Target="/ppt/notesMasters/notesMaster1.xml" Id="Rc8fa634a536e4e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55bc87ff5949cf" /><Relationship Type="http://schemas.openxmlformats.org/officeDocument/2006/relationships/notesMaster" Target="/ppt/notesMasters/notesMaster1.xml" Id="R12f7af7a533d44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ac8ed5cd154018" /><Relationship Type="http://schemas.openxmlformats.org/officeDocument/2006/relationships/notesMaster" Target="/ppt/notesMasters/notesMaster1.xml" Id="R1046f5ef5a5041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Devpost Submission — ScopeGuard, Title and Tagline sections. Background visual: project-owned asset public/slides-images/slide-01-hero.jpg.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Devpost Submission — ScopeGuard, Inspiration section; supplied README, introduction. Visual: project-owned asset public/slides-images/slide-02-scope-creep-iceberg.jpg.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Devpost Submission — ScopeGuard, What it does section; supplied README, workflow overview. Visual: project-owned asset public/slides-images/slide-04-workflow-steps.jpg.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README, opening paragraph and 'What ScopeGuard does not do' section; supplied Devpost Submission, Inspiration and What it does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README, 'What makes it trustworthy' sections 1–4; supplied Devpost Submission, How we built it section. Visual: project-owned asset public/slides-images/slide-05-trust-spine.jpg.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Devpost Submission, How we built it section; supplied README, Architecture section. Visual: project-owned asset public/slides-images/slide-07-architecture.jpg.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Devpost Submission, How we built it section; supplied README, 'What makes it trustworthy' sections 1–3 and Fixture mode section.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README, Testing and evaluation section; supplied Devpost Submission, Accomplishments we are proud of section. The fixture-mode results refer to the documented 16/23 run and are not a general performance claim. Visual: project-owned asset public/slides-images/slide-09-benchmark-results.jpg.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Devpost Submission, What's next for ScopeGuard section; supplied README, Status against the plan and 'What ScopeGuard does not do'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1b9c5f65e42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9cdfea20543d8" /><Relationship Type="http://schemas.openxmlformats.org/officeDocument/2006/relationships/slideLayout" Target="/ppt/slideLayouts/slideLayout1.xml" Id="Rbcbb954abb8a41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bb954abb8a41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30d8135c44b61" /><Relationship Type="http://schemas.openxmlformats.org/officeDocument/2006/relationships/image" Target="/ppt/media/image.jpeg" Id="Ref08c78b12184123" /><Relationship Type="http://schemas.openxmlformats.org/officeDocument/2006/relationships/notesSlide" Target="/ppt/notesSlides/notesSlide1.xml" Id="Rf836e24b5cde47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f9c66883243e7" /><Relationship Type="http://schemas.openxmlformats.org/officeDocument/2006/relationships/image" Target="/ppt/media/image2.jpeg" Id="Rd8204003c4194d89" /><Relationship Type="http://schemas.openxmlformats.org/officeDocument/2006/relationships/notesSlide" Target="/ppt/notesSlides/notesSlide2.xml" Id="Rb4b5eabd9e1a4d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3f2baea3046e7" /><Relationship Type="http://schemas.openxmlformats.org/officeDocument/2006/relationships/image" Target="/ppt/media/image3.jpeg" Id="Reb36f6a8e6994b6c" /><Relationship Type="http://schemas.openxmlformats.org/officeDocument/2006/relationships/notesSlide" Target="/ppt/notesSlides/notesSlide3.xml" Id="Rbd8a5bd9af6842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8e1526ec94d25" /><Relationship Type="http://schemas.openxmlformats.org/officeDocument/2006/relationships/notesSlide" Target="/ppt/notesSlides/notesSlide4.xml" Id="R46bf804db40c41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6cef712174074" /><Relationship Type="http://schemas.openxmlformats.org/officeDocument/2006/relationships/image" Target="/ppt/media/image4.jpeg" Id="R4a9a52d95b324082" /><Relationship Type="http://schemas.openxmlformats.org/officeDocument/2006/relationships/notesSlide" Target="/ppt/notesSlides/notesSlide5.xml" Id="R8649afd53aaa41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2e9b3d85a485e" /><Relationship Type="http://schemas.openxmlformats.org/officeDocument/2006/relationships/image" Target="/ppt/media/image5.jpeg" Id="Rbc5c473185a943fd" /><Relationship Type="http://schemas.openxmlformats.org/officeDocument/2006/relationships/notesSlide" Target="/ppt/notesSlides/notesSlide6.xml" Id="Rb31b337ad2f54b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de639d8d142af" /><Relationship Type="http://schemas.openxmlformats.org/officeDocument/2006/relationships/notesSlide" Target="/ppt/notesSlides/notesSlide7.xml" Id="R36ce31175cbd41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496f700bb45c8" /><Relationship Type="http://schemas.openxmlformats.org/officeDocument/2006/relationships/image" Target="/ppt/media/image6.jpeg" Id="Rbbcae2b887ad4e36" /><Relationship Type="http://schemas.openxmlformats.org/officeDocument/2006/relationships/notesSlide" Target="/ppt/notesSlides/notesSlide8.xml" Id="R300ec78328b04f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8f53a041d4731" /><Relationship Type="http://schemas.openxmlformats.org/officeDocument/2006/relationships/notesSlide" Target="/ppt/notesSlides/notesSlide9.xml" Id="R1e791bcb140548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8c78b12184123"/>
          <a:srcRect xmlns:a="http://schemas.openxmlformats.org/drawingml/2006/main" l="0" t="12333" r="0" b="12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542A0-7F71-4C88-B769-FD1BDAE4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1015">
              <a:alpha val="7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9E016-7D07-43FB-AB6F-AA4A610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DED4"/>
                </a:solidFill>
                <a:latin typeface="Arimo"/>
                <a:ea typeface="Arimo"/>
                <a:cs typeface="Arimo"/>
              </a:defRPr>
            </a:pPr>
            <a:r>
              <a:rPr sz="1050" b="1">
                <a:solidFill>
                  <a:srgbClr val="F1DED4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B6A7D-873C-4B4A-A34D-36CFA7D4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900" b="1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3900" b="1">
                <a:solidFill>
                  <a:srgbClr val="F7F0E7"/>
                </a:solidFill>
                <a:latin typeface="Arimo"/>
                <a:ea typeface="Arimo"/>
                <a:cs typeface="Arimo"/>
              </a:rPr>
              <a:t>Evidence-backed change orders for client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BFC5-5589-40D7-9FBB-5C375077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533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F1DED4"/>
                </a:solidFill>
                <a:latin typeface="Arimo"/>
                <a:ea typeface="Arimo"/>
                <a:cs typeface="Arimo"/>
              </a:defRPr>
            </a:pPr>
            <a:r>
              <a:rPr sz="1575">
                <a:solidFill>
                  <a:srgbClr val="F1DED4"/>
                </a:solidFill>
                <a:latin typeface="Arimo"/>
                <a:ea typeface="Arimo"/>
                <a:cs typeface="Arimo"/>
              </a:rPr>
              <a:t>ScopeGuard reads the agreement, verifies the relevant wording, and leaves the pricing and final decision with the person doing the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E975C-2AD6-4F0C-BA18-FF52B734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1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29105-3D82-43C4-815B-91C6D22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DED4"/>
                </a:solidFill>
                <a:latin typeface="Arimo"/>
                <a:ea typeface="Arimo"/>
                <a:cs typeface="Arimo"/>
              </a:defRPr>
            </a:pPr>
            <a:r>
              <a:rPr sz="1125" b="1">
                <a:solidFill>
                  <a:srgbClr val="F1DED4"/>
                </a:solidFill>
                <a:latin typeface="Arimo"/>
                <a:ea typeface="Arimo"/>
                <a:cs typeface="Arimo"/>
              </a:rPr>
              <a:t>Hackathon product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0C4A2-12C1-490B-871B-E00BB1B6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E7D8CC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20E02-D8AA-47B6-8142-E2646105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E7D8CC"/>
                </a:solidFill>
                <a:latin typeface="Arimo"/>
                <a:ea typeface="Arimo"/>
                <a:cs typeface="Arim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1895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03C92-0C02-4C8E-8A71-ECCF1EAE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9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46D0E-41E6-4B92-B4FA-FB88273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28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A small request can hide a large scope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84720-4677-4A12-BDE1-928F7689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7687E-DB4C-4A4C-9B91-F04630E4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2540B-0FE1-4FBA-9153-C20BAB5E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02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04003c4194d89"/>
          <a:srcRect xmlns:a="http://schemas.openxmlformats.org/drawingml/2006/main" l="6536" t="0" r="65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52650"/>
            <a:ext cx="5162550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CC841-A05F-45AA-8735-10C344B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125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The moment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4ACD3-E959-4162-9A7F-96D1C28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958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22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22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"One more small thing before launch"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12A88-2032-4628-A226-5F66AB9F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954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0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500">
                <a:solidFill>
                  <a:srgbClr val="615A55"/>
                </a:solidFill>
                <a:latin typeface="Arimo"/>
                <a:ea typeface="Arimo"/>
                <a:cs typeface="Arimo"/>
              </a:rPr>
              <a:t>For freelancers, a good response requires finding the relevant clause in a statement of work, separating facts from assumptions, and preserving a record of what changed.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96DBE-5E5E-4060-832C-000A3D69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DE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0D1E6-369C-485E-A483-9C6A064B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43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9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125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The risk: a vague request can become an untracked commitment.</a:t>
            </a:r>
          </a:p>
        </p:txBody>
      </p:sp>
    </p:spTree>
    <p:extLst>
      <p:ext uri="{BB962C8B-B14F-4D97-AF65-F5344CB8AC3E}">
        <p14:creationId xmlns:p14="http://schemas.microsoft.com/office/powerpoint/2010/main" val="778208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913A1-1E61-419C-9C9A-858326E9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9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SOLUTION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40723-BA66-4EEC-9F46-85D13FF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28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A clear path from request to change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06954-2C6B-4904-B976-5E4FB5F3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3AA1-9A91-4FAC-9FF0-B9314E7E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D8FA5-2115-456D-AD95-2AAE95EB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6f6a8e6994b6c"/>
          <a:srcRect xmlns:a="http://schemas.openxmlformats.org/drawingml/2006/main" l="1938" t="0" r="1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2019300"/>
            <a:ext cx="59055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EDDA1-2682-4E2C-9825-4F1AB047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9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19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19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ScopeGuard links the client message to the confirmed scope before anyone discusses price.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5786C-73C1-42AC-B15A-F61F0DD5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095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1  Ingest the agreement and 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2  Surface verified quotes and an evidence-based label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3  Let the user confirm the decision and enter estimates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4  Render a consistent, frozen change order</a:t>
            </a:r>
          </a:p>
        </p:txBody>
      </p:sp>
    </p:spTree>
    <p:extLst>
      <p:ext uri="{BB962C8B-B14F-4D97-AF65-F5344CB8AC3E}">
        <p14:creationId xmlns:p14="http://schemas.microsoft.com/office/powerpoint/2010/main" val="1229470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E8D7F-B3AA-4C31-8E44-2185B62C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9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TARGET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D1F97-8FB0-42D2-90A7-F7DF0056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28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Built for client work where scope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A002D-E503-4099-AE79-F6EE02AE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21712-6BBA-42D4-B914-A3428CAD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3DC5D-4ADD-4E2B-8A2C-3881485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FD462-1760-4556-A324-42EA9A20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21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Freelance web developers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E0251-60E2-48F0-A2B5-FE57319B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476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425">
                <a:solidFill>
                  <a:srgbClr val="615A55"/>
                </a:solidFill>
                <a:latin typeface="Arimo"/>
                <a:ea typeface="Arimo"/>
                <a:cs typeface="Arimo"/>
              </a:rPr>
              <a:t>Need a reliable way to respond when an existing client request changes what the agreement covers.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DFFB1-F919-4D8F-AB55-7271DA92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11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DE449-5C29-4D6D-966D-C00B6788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21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Small agencies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99E5A-5286-4593-A657-845D65C6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584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425">
                <a:solidFill>
                  <a:srgbClr val="615A55"/>
                </a:solidFill>
                <a:latin typeface="Arimo"/>
                <a:ea typeface="Arimo"/>
                <a:cs typeface="Arimo"/>
              </a:rPr>
              <a:t>Need a shared record that protects the project team from version drift and accidental commitments.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743BB-5C6A-452A-8178-B8CDF422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47625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27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ACD94-0063-4CB1-81E3-46DB2DB1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1BEB2"/>
                </a:solidFill>
                <a:latin typeface="Arimo"/>
                <a:ea typeface="Arimo"/>
                <a:cs typeface="Arimo"/>
              </a:defRPr>
            </a:pPr>
            <a:r>
              <a:rPr sz="1125" b="1">
                <a:solidFill>
                  <a:srgbClr val="E1BEB2"/>
                </a:solidFill>
                <a:latin typeface="Arimo"/>
                <a:ea typeface="Arimo"/>
                <a:cs typeface="Arimo"/>
              </a:rPr>
              <a:t>What they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723CC-98E1-4297-89B8-BE28C0E3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2775" b="1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2775" b="1">
                <a:solidFill>
                  <a:srgbClr val="F7F0E7"/>
                </a:solidFill>
                <a:latin typeface="Arimo"/>
                <a:ea typeface="Arimo"/>
                <a:cs typeface="Arimo"/>
              </a:rPr>
              <a:t>A factual answer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2775" b="1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2775" b="1">
                <a:solidFill>
                  <a:srgbClr val="F7F0E7"/>
                </a:solidFill>
                <a:latin typeface="Arimo"/>
                <a:ea typeface="Arimo"/>
                <a:cs typeface="Arimo"/>
              </a:rPr>
              <a:t>that points back to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2775" b="1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2775" b="1">
                <a:solidFill>
                  <a:srgbClr val="F7F0E7"/>
                </a:solidFill>
                <a:latin typeface="Arimo"/>
                <a:ea typeface="Arimo"/>
                <a:cs typeface="Arimo"/>
              </a:rPr>
              <a:t>the agreement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0765F-862F-4773-ACDF-0498CE0B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1275">
                <a:solidFill>
                  <a:srgbClr val="E7D8CC"/>
                </a:solidFill>
                <a:latin typeface="Arimo"/>
                <a:ea typeface="Arimo"/>
                <a:cs typeface="Arimo"/>
              </a:rPr>
              <a:t>ScopeGuard provides evidence and consistency without turning the system into a legal, pricing, or sending authority.</a:t>
            </a:r>
          </a:p>
        </p:txBody>
      </p:sp>
    </p:spTree>
    <p:extLst>
      <p:ext uri="{BB962C8B-B14F-4D97-AF65-F5344CB8AC3E}">
        <p14:creationId xmlns:p14="http://schemas.microsoft.com/office/powerpoint/2010/main" val="1474998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47CAD-F87C-4D47-A02D-3FD8D8DB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9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PRODUCT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C5F0D-0C86-453B-A9AE-E179CE62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28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Trust controls shape every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0F7A3-0C02-4414-8429-4312BCB2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EAE6F-5C84-43EA-BEE5-5F4F2EE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E3AAA-B452-4D73-927C-5327A504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a52d95b324082"/>
          <a:srcRect xmlns:a="http://schemas.openxmlformats.org/drawingml/2006/main" l="9070" t="0" r="9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019300"/>
            <a:ext cx="50292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B77CB-F923-4A5E-A535-08446D5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725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Verified citations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110AE-3735-45CB-AD44-9ED8AC02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99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Quotes must match the source document before the product displays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E00E0-3748-4A7D-8593-A6AAB02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725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Evidence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72F09-5727-489C-A5BA-6FC6B80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99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Unsupported conclusions fall back to a clarification request instead of a stronger claim.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D2729-430F-4542-BABA-DE8210C7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725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Human pricing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3CECC-C566-49B9-892F-9272077A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808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The user enters the hours and approves the final version. The AI has no fields for costs or dates.</a:t>
            </a:r>
          </a:p>
        </p:txBody>
      </p:sp>
    </p:spTree>
    <p:extLst>
      <p:ext uri="{BB962C8B-B14F-4D97-AF65-F5344CB8AC3E}">
        <p14:creationId xmlns:p14="http://schemas.microsoft.com/office/powerpoint/2010/main" val="755155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3CA9F-DC2C-44F8-956C-E04E5F4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9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2029-497D-4690-9382-3E32CCE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28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A web application with a verification layer at its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A2CF6-DC54-417F-B00C-8C3F7384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A7615-7386-4AF9-B7F0-B86DC9B9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6E920-5E71-4620-88D1-09F80D3B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c473185a943fd"/>
          <a:srcRect xmlns:a="http://schemas.openxmlformats.org/drawingml/2006/main" l="9079" t="0" r="90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943100"/>
            <a:ext cx="539115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C1826-1A48-45F6-85CA-4CAD3E31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35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Application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C7326-164A-4757-AE88-08D25FF8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68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Next.js 16 App Router, React 19, TypeScript, and server-rendered UI.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659BB-7BB6-4DBD-A8FD-6DCAD2F0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35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Trust spine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F8E9E-A8AA-40B3-8877-A382855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226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Citation verification, evidence rules, a monetary-claim guard, and deterministic document rendering.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A81AB-5DBB-4784-9718-986B3AB3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35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Data and 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1B86B-06D3-491A-896B-A34A2AA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17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350">
                <a:solidFill>
                  <a:srgbClr val="615A55"/>
                </a:solidFill>
                <a:latin typeface="Arimo"/>
                <a:ea typeface="Arimo"/>
                <a:cs typeface="Arimo"/>
              </a:rPr>
              <a:t>Supabase Postgres with row-level security, private storage, OpenAI, and per-user Slack OAuth.</a:t>
            </a:r>
          </a:p>
        </p:txBody>
      </p:sp>
    </p:spTree>
    <p:extLst>
      <p:ext uri="{BB962C8B-B14F-4D97-AF65-F5344CB8AC3E}">
        <p14:creationId xmlns:p14="http://schemas.microsoft.com/office/powerpoint/2010/main" val="2011622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B2E85-B47D-44DE-B41A-C7279FEC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B1A5"/>
                </a:solidFill>
                <a:latin typeface="Arimo"/>
                <a:ea typeface="Arimo"/>
                <a:cs typeface="Arimo"/>
              </a:defRPr>
            </a:pPr>
            <a:r>
              <a:rPr sz="900" b="1">
                <a:solidFill>
                  <a:srgbClr val="D5B1A5"/>
                </a:solidFill>
                <a:latin typeface="Arimo"/>
                <a:ea typeface="Arimo"/>
                <a:cs typeface="Arimo"/>
              </a:rPr>
              <a:t>AI TECHNOLOGIES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46332-9540-4581-9002-5C8BCBEB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2850" b="1">
                <a:solidFill>
                  <a:srgbClr val="F7F0E7"/>
                </a:solidFill>
                <a:latin typeface="Arimo"/>
                <a:ea typeface="Arimo"/>
                <a:cs typeface="Arimo"/>
              </a:rPr>
              <a:t>Structured model output, bounded by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01B73-1933-428F-821F-13FAE2C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1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2C5E2-32E8-4C51-AC5C-2615E23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E7D8CC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9B62D-1891-4A2F-93B5-F769A3C4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E7D8CC"/>
                </a:solidFill>
                <a:latin typeface="Arimo"/>
                <a:ea typeface="Arimo"/>
                <a:cs typeface="Arim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2A19F-9677-4919-9EA1-F733A8FF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2025" b="1">
                <a:solidFill>
                  <a:srgbClr val="F7F0E7"/>
                </a:solidFill>
                <a:latin typeface="Arimo"/>
                <a:ea typeface="Arimo"/>
                <a:cs typeface="Arimo"/>
              </a:rPr>
              <a:t>OpenAI runs three controlled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C9F39-6B33-44AC-96C1-00451EC1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286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425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1425">
                <a:solidFill>
                  <a:srgbClr val="E7D8CC"/>
                </a:solidFill>
                <a:latin typeface="Arimo"/>
                <a:ea typeface="Arimo"/>
                <a:cs typeface="Arimo"/>
              </a:rPr>
              <a:t>Scope extraction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425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1425">
                <a:solidFill>
                  <a:srgbClr val="E7D8CC"/>
                </a:solidFill>
                <a:latin typeface="Arimo"/>
                <a:ea typeface="Arimo"/>
                <a:cs typeface="Arimo"/>
              </a:rPr>
              <a:t>Builds structured scope items from the confirmed 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425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1425">
                <a:solidFill>
                  <a:srgbClr val="E7D8CC"/>
                </a:solidFill>
                <a:latin typeface="Arimo"/>
                <a:ea typeface="Arimo"/>
                <a:cs typeface="Arimo"/>
              </a:rPr>
              <a:t>Request analysis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425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1425">
                <a:solidFill>
                  <a:srgbClr val="E7D8CC"/>
                </a:solidFill>
                <a:latin typeface="Arimo"/>
                <a:ea typeface="Arimo"/>
                <a:cs typeface="Arimo"/>
              </a:rPr>
              <a:t>Compares each client request with supporting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425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1425">
                <a:solidFill>
                  <a:srgbClr val="E7D8CC"/>
                </a:solidFill>
                <a:latin typeface="Arimo"/>
                <a:ea typeface="Arimo"/>
                <a:cs typeface="Arimo"/>
              </a:rPr>
              <a:t>Document drafting</a:t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425">
                <a:solidFill>
                  <a:srgbClr val="E7D8CC"/>
                </a:solidFill>
                <a:latin typeface="Arimo"/>
                <a:ea typeface="Arimo"/>
                <a:cs typeface="Arimo"/>
              </a:defRPr>
            </a:pPr>
            <a:r>
              <a:rPr sz="1425">
                <a:solidFill>
                  <a:srgbClr val="E7D8CC"/>
                </a:solidFill>
                <a:latin typeface="Arimo"/>
                <a:ea typeface="Arimo"/>
                <a:cs typeface="Arimo"/>
              </a:rPr>
              <a:t>Prepares display-only language that the system checks again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961A7-1021-4DCB-9C81-4AC10F5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4171950" cy="3067050"/>
          </a:xfrm>
          <a:prstGeom xmlns:a="http://schemas.openxmlformats.org/drawingml/2006/main" prst="roundRect">
            <a:avLst>
              <a:gd name="adj" fmla="val 4969"/>
            </a:avLst>
          </a:prstGeom>
          <a:solidFill xmlns:a="http://schemas.openxmlformats.org/drawingml/2006/main">
            <a:srgbClr val="3D1A20"/>
          </a:solidFill>
          <a:ln xmlns:a="http://schemas.openxmlformats.org/drawingml/2006/main" w="9525">
            <a:solidFill>
              <a:srgbClr val="71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62324-B195-4FBB-B3C0-E3F1C30A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14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BEB2"/>
                </a:solidFill>
                <a:latin typeface="Arimo"/>
                <a:ea typeface="Arimo"/>
                <a:cs typeface="Arimo"/>
              </a:defRPr>
            </a:pPr>
            <a:r>
              <a:rPr sz="1425" b="1">
                <a:solidFill>
                  <a:srgbClr val="E1BEB2"/>
                </a:solidFill>
                <a:latin typeface="Arimo"/>
                <a:ea typeface="Arimo"/>
                <a:cs typeface="Arimo"/>
              </a:rPr>
              <a:t>Safety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64A5C-26E9-4200-B2B1-F04470F5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9900"/>
            <a:ext cx="2914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70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1500">
                <a:solidFill>
                  <a:srgbClr val="F7F0E7"/>
                </a:solidFill>
                <a:latin typeface="Arimo"/>
                <a:ea typeface="Arimo"/>
                <a:cs typeface="Arimo"/>
              </a:rPr>
              <a:t>Strict JSON schema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1500">
                <a:solidFill>
                  <a:srgbClr val="F7F0E7"/>
                </a:solidFill>
                <a:latin typeface="Arimo"/>
                <a:ea typeface="Arimo"/>
                <a:cs typeface="Arimo"/>
              </a:rPr>
              <a:t>Verbatim quote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1500">
                <a:solidFill>
                  <a:srgbClr val="F7F0E7"/>
                </a:solidFill>
                <a:latin typeface="Arimo"/>
                <a:ea typeface="Arimo"/>
                <a:cs typeface="Arimo"/>
              </a:rPr>
              <a:t>Evidence-rule downgrades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F7F0E7"/>
                </a:solidFill>
                <a:latin typeface="Arimo"/>
                <a:ea typeface="Arimo"/>
                <a:cs typeface="Arimo"/>
              </a:defRPr>
            </a:pPr>
            <a:r>
              <a:rPr sz="1500">
                <a:solidFill>
                  <a:srgbClr val="F7F0E7"/>
                </a:solidFill>
                <a:latin typeface="Arimo"/>
                <a:ea typeface="Arimo"/>
                <a:cs typeface="Arimo"/>
              </a:rPr>
              <a:t>No AI fields for hours, cost, or dates</a:t>
            </a:r>
          </a:p>
        </p:txBody>
      </p:sp>
    </p:spTree>
    <p:extLst>
      <p:ext uri="{BB962C8B-B14F-4D97-AF65-F5344CB8AC3E}">
        <p14:creationId xmlns:p14="http://schemas.microsoft.com/office/powerpoint/2010/main" val="1578680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DCF5E-8B46-4E28-B116-1CBF0B0B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9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IMPACT AND VALUE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D2407-BD58-4E65-AC7A-125E6155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28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More defensible scope decisions, with evidence preserved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B4C08-1525-4062-97DE-51596CD9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7A16B-0916-4230-8615-4DB41EFE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29E22-5B69-4860-AC48-50682E51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ae2b887ad4e36"/>
          <a:srcRect xmlns:a="http://schemas.openxmlformats.org/drawingml/2006/main" l="8140" t="0" r="8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48450" y="2095500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A9F76-F65D-4E3C-8340-EC07A448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2025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Evidence over guesswork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5D662-B89C-40BE-B873-10B21E0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500">
                <a:solidFill>
                  <a:srgbClr val="615A55"/>
                </a:solidFill>
                <a:latin typeface="Arimo"/>
                <a:ea typeface="Arimo"/>
                <a:cs typeface="Arimo"/>
              </a:rPr>
              <a:t>Every displayed claim needs a verified quote or the system asks for clarification.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9588F-D9C8-4E07-AC21-A7252321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2025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Consistent approved figures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49EBB-07D5-4E2D-8808-2DD477C4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500">
                <a:solidFill>
                  <a:srgbClr val="615A55"/>
                </a:solidFill>
                <a:latin typeface="Arimo"/>
                <a:ea typeface="Arimo"/>
                <a:cs typeface="Arimo"/>
              </a:rPr>
              <a:t>One calculation produces the on-screen total, client reply, PDF, and invoice.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5E8BA-0F98-402C-BB0B-A6E4577A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E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5E554-9EFD-4907-B0C6-5C138B40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4A"/>
                </a:solidFill>
                <a:latin typeface="Arimo"/>
                <a:ea typeface="Arimo"/>
                <a:cs typeface="Arimo"/>
              </a:defRPr>
            </a:pPr>
            <a:r>
              <a:rPr sz="1050" b="1">
                <a:solidFill>
                  <a:srgbClr val="1E6B4A"/>
                </a:solidFill>
                <a:latin typeface="Arimo"/>
                <a:ea typeface="Arimo"/>
                <a:cs typeface="Arimo"/>
              </a:rPr>
              <a:t>Current fixture-mode evaluation: 100% citation validation and 0 evidence-rule violations.</a:t>
            </a:r>
          </a:p>
        </p:txBody>
      </p:sp>
    </p:spTree>
    <p:extLst>
      <p:ext uri="{BB962C8B-B14F-4D97-AF65-F5344CB8AC3E}">
        <p14:creationId xmlns:p14="http://schemas.microsoft.com/office/powerpoint/2010/main" val="18958033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CFB4A-ABF7-4522-9EB0-141C9722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9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FUTURE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71FEA-983E-4686-A277-99F99C4C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9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2850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ScopeGuard extends its workflow without taking control 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6F0BD-9F63-4416-B081-8436D80F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1D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2D63E-002A-48D7-91AE-B1025FF6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SCOPEGUARD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1D879-B524-4E1C-BFDC-2BB60479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825" b="1">
                <a:solidFill>
                  <a:srgbClr val="615A55"/>
                </a:solidFill>
                <a:latin typeface="Arimo"/>
                <a:ea typeface="Arimo"/>
                <a:cs typeface="Arim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209F6-CBF1-4C2F-BB8B-693BBE42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7813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0E7"/>
          </a:solidFill>
          <a:ln xmlns:a="http://schemas.openxmlformats.org/drawingml/2006/main" w="9525">
            <a:solidFill>
              <a:srgbClr val="D9CB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8135B-A795-4D99-8BC0-C8A42E85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27813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0E7"/>
          </a:solidFill>
          <a:ln xmlns:a="http://schemas.openxmlformats.org/drawingml/2006/main" w="9525">
            <a:solidFill>
              <a:srgbClr val="D9CB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5D190-0C11-4928-95D6-824AAFC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3429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0E7"/>
          </a:solidFill>
          <a:ln xmlns:a="http://schemas.openxmlformats.org/drawingml/2006/main" w="9525">
            <a:solidFill>
              <a:srgbClr val="D9CB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A7C97-4C90-47AA-A443-4105223F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2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ECD18-8B9A-41ED-986C-FE3A6306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611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1875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1875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Deployment and onboarding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1642E-C86F-4978-95C8-932FE6F9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6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275">
                <a:solidFill>
                  <a:srgbClr val="615A55"/>
                </a:solidFill>
                <a:latin typeface="Arimo"/>
                <a:ea typeface="Arimo"/>
                <a:cs typeface="Arimo"/>
              </a:rPr>
              <a:t>Polish the deployment flow and support per-workspace setup.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8A04D-8BBA-40A9-9B71-F1A891D1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05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2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2AB7C-9129-45CB-8233-82A5FC6E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686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1875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1875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Honest integrations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4AF65-F6CC-455D-BF6E-8EF5D954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86200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25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275">
                <a:solidFill>
                  <a:srgbClr val="615A55"/>
                </a:solidFill>
                <a:latin typeface="Arimo"/>
                <a:ea typeface="Arimo"/>
                <a:cs typeface="Arimo"/>
              </a:rPr>
              <a:t>Add Gmail drafts, outbound CRM sync, and payment links tied to human-entered amounts.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9AFCD-EAA4-44D8-9D1C-77FB26E3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05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200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1A839-C7EF-4439-9BBA-1FE303F8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314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1875" b="1">
                <a:solidFill>
                  <a:srgbClr val="1E2223"/>
                </a:solidFill>
                <a:latin typeface="Arimo"/>
                <a:ea typeface="Arimo"/>
                <a:cs typeface="Arimo"/>
              </a:defRPr>
            </a:pPr>
            <a:r>
              <a:rPr sz="1875" b="1">
                <a:solidFill>
                  <a:srgbClr val="1E2223"/>
                </a:solidFill>
                <a:latin typeface="Arimo"/>
                <a:ea typeface="Arimo"/>
                <a:cs typeface="Arimo"/>
              </a:rPr>
              <a:t>Broader safety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9F3AC-E648-475E-906C-5FEF0F60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25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615A55"/>
                </a:solidFill>
                <a:latin typeface="Arimo"/>
                <a:ea typeface="Arimo"/>
                <a:cs typeface="Arimo"/>
              </a:defRPr>
            </a:pPr>
            <a:r>
              <a:rPr sz="1275">
                <a:solidFill>
                  <a:srgbClr val="615A55"/>
                </a:solidFill>
                <a:latin typeface="Arimo"/>
                <a:ea typeface="Arimo"/>
                <a:cs typeface="Arimo"/>
              </a:rPr>
              <a:t>Expand the labelled evaluation set across models and track evidence-rule violations as a regression gate.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7E883-189E-4ABA-91FE-8FB86ED9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1D29"/>
                </a:solidFill>
                <a:latin typeface="Arimo"/>
                <a:ea typeface="Arimo"/>
                <a:cs typeface="Arimo"/>
              </a:defRPr>
            </a:pPr>
            <a:r>
              <a:rPr sz="1275" b="1">
                <a:solidFill>
                  <a:srgbClr val="651D29"/>
                </a:solidFill>
                <a:latin typeface="Arimo"/>
                <a:ea typeface="Arimo"/>
                <a:cs typeface="Arimo"/>
              </a:rPr>
              <a:t>The roadmap preserves the same boundary: the person stays responsible for the decision, the price, and the final send.</a:t>
            </a:r>
          </a:p>
        </p:txBody>
      </p:sp>
    </p:spTree>
    <p:extLst>
      <p:ext uri="{BB962C8B-B14F-4D97-AF65-F5344CB8AC3E}">
        <p14:creationId xmlns:p14="http://schemas.microsoft.com/office/powerpoint/2010/main" val="2120102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2026-09-15T18:20:13.7320000Z</dcterms:created>
  <dcterms:modified xsi:type="dcterms:W3CDTF">2026-09-15T18:20:13.7320000Z</dcterms:modified>
</coreProperties>
</file>